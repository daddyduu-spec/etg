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ETG — Schema Generale: S → C →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La pressione pre-grammaticale S viene ridotta da U attraverso piani disciplinari D, producendo linguaggio L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286000"/>
            <a:ext cx="2011680" cy="2011680"/>
          </a:xfrm>
          <a:prstGeom prst="ellipse">
            <a:avLst/>
          </a:prstGeom>
          <a:solidFill>
            <a:srgbClr val="F0C8C8"/>
          </a:solidFill>
          <a:ln w="3810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42828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2828"/>
                </a:solidFill>
                <a:latin typeface="Arial"/>
              </a:defRPr>
            </a:pPr>
            <a:r>
              <a:t>pressione</a:t>
            </a:r>
            <a:br/>
            <a:r>
              <a:t>pre-grammaticale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3291840"/>
            <a:ext cx="1097280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1371600"/>
            <a:ext cx="0" cy="3931920"/>
          </a:xfrm>
          <a:prstGeom prst="line">
            <a:avLst/>
          </a:prstGeom>
          <a:ln w="50800">
            <a:solidFill>
              <a:srgbClr val="283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336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3CA0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83CA0"/>
                </a:solidFill>
                <a:latin typeface="Arial"/>
              </a:defRPr>
            </a:pPr>
            <a:r>
              <a:t>costante strutturale</a:t>
            </a:r>
            <a:br/>
            <a:r>
              <a:t>(da alfa)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783C"/>
                </a:solidFill>
                <a:latin typeface="Arial"/>
              </a:defRPr>
            </a:pPr>
            <a:r>
              <a:t>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783C"/>
                </a:solidFill>
                <a:latin typeface="Arial"/>
              </a:defRPr>
            </a:pPr>
            <a:r>
              <a:t>(inter)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288C"/>
                </a:solidFill>
                <a:latin typeface="Arial"/>
              </a:defRPr>
            </a:pPr>
            <a:r>
              <a:t>C⁻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288C"/>
                </a:solidFill>
                <a:latin typeface="Arial"/>
              </a:defRPr>
            </a:pPr>
            <a:r>
              <a:t>(intra)</a:t>
            </a:r>
          </a:p>
        </p:txBody>
      </p:sp>
      <p:sp>
        <p:nvSpPr>
          <p:cNvPr id="15" name="Oval 14"/>
          <p:cNvSpPr/>
          <p:nvPr/>
        </p:nvSpPr>
        <p:spPr>
          <a:xfrm>
            <a:off x="4069080" y="2560320"/>
            <a:ext cx="640080" cy="640080"/>
          </a:xfrm>
          <a:prstGeom prst="ellipse">
            <a:avLst/>
          </a:prstGeom>
          <a:solidFill>
            <a:srgbClr val="DCC8F0"/>
          </a:solidFill>
          <a:ln w="2540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606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288C"/>
                </a:solidFill>
                <a:latin typeface="Arial"/>
              </a:defRPr>
            </a:pPr>
            <a:r>
              <a:t>U</a:t>
            </a:r>
          </a:p>
        </p:txBody>
      </p:sp>
      <p:sp>
        <p:nvSpPr>
          <p:cNvPr id="17" name="Oval 16"/>
          <p:cNvSpPr/>
          <p:nvPr/>
        </p:nvSpPr>
        <p:spPr>
          <a:xfrm>
            <a:off x="4069080" y="3474720"/>
            <a:ext cx="640080" cy="640080"/>
          </a:xfrm>
          <a:prstGeom prst="ellipse">
            <a:avLst/>
          </a:prstGeom>
          <a:solidFill>
            <a:srgbClr val="DCC8F0"/>
          </a:solidFill>
          <a:ln w="2540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520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288C"/>
                </a:solidFill>
                <a:latin typeface="Arial"/>
              </a:defRPr>
            </a:pPr>
            <a:r>
              <a:t>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6414"/>
                </a:solidFill>
                <a:latin typeface="Arial"/>
              </a:defRPr>
            </a:pPr>
            <a:r>
              <a:t>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6414"/>
                </a:solidFill>
                <a:latin typeface="Arial"/>
              </a:defRPr>
            </a:pPr>
            <a:r>
              <a:t>punto su C dove più U coesistono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2286000" cy="1097280"/>
          </a:xfrm>
          <a:prstGeom prst="rect">
            <a:avLst/>
          </a:prstGeom>
          <a:solidFill>
            <a:srgbClr val="B4D2F0"/>
          </a:solidFill>
          <a:ln w="25400">
            <a:solidFill>
              <a:srgbClr val="28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3CA0"/>
                </a:solidFill>
                <a:latin typeface="Arial"/>
              </a:defRPr>
            </a:pPr>
            <a:r>
              <a:t>D₁ (es. fisica)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94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V₁, A₁, DH₁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00400"/>
            <a:ext cx="2286000" cy="1097280"/>
          </a:xfrm>
          <a:prstGeom prst="rect">
            <a:avLst/>
          </a:prstGeom>
          <a:solidFill>
            <a:srgbClr val="C8EBC8"/>
          </a:solidFill>
          <a:ln w="2540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783C"/>
                </a:solidFill>
                <a:latin typeface="Arial"/>
              </a:defRPr>
            </a:pPr>
            <a:r>
              <a:t>D₂ (es. cucina)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V₂, A₂, DH₂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2286000" cy="1097280"/>
          </a:xfrm>
          <a:prstGeom prst="rect">
            <a:avLst/>
          </a:prstGeom>
          <a:solidFill>
            <a:srgbClr val="FFF5C8"/>
          </a:solidFill>
          <a:ln w="25400">
            <a:solidFill>
              <a:srgbClr val="C8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86414"/>
                </a:solidFill>
                <a:latin typeface="Arial"/>
              </a:defRPr>
            </a:pPr>
            <a:r>
              <a:t>D₃ (es. diritto)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37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V₃, A₃, DH₃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754880" y="2377440"/>
            <a:ext cx="1554480" cy="365760"/>
          </a:xfrm>
          <a:prstGeom prst="line">
            <a:avLst/>
          </a:prstGeom>
          <a:ln w="19050">
            <a:solidFill>
              <a:srgbClr val="283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54880" y="3291840"/>
            <a:ext cx="1554480" cy="457199"/>
          </a:xfrm>
          <a:prstGeom prst="line">
            <a:avLst/>
          </a:prstGeom>
          <a:ln w="19050">
            <a:solidFill>
              <a:srgbClr val="1E7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54880" y="3840480"/>
            <a:ext cx="1554480" cy="1280160"/>
          </a:xfrm>
          <a:prstGeom prst="line">
            <a:avLst/>
          </a:prstGeom>
          <a:ln w="19050">
            <a:solidFill>
              <a:srgbClr val="C86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8240" y="2377440"/>
            <a:ext cx="822960" cy="7315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778240" y="3291840"/>
            <a:ext cx="822960" cy="457199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778240" y="3474720"/>
            <a:ext cx="822960" cy="16459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601200" y="2743200"/>
            <a:ext cx="2011680" cy="1097280"/>
          </a:xfrm>
          <a:prstGeom prst="roundRect">
            <a:avLst/>
          </a:prstGeom>
          <a:solidFill>
            <a:srgbClr val="C8EBC8"/>
          </a:solidFill>
          <a:ln w="381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8080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8080"/>
                </a:solidFill>
                <a:latin typeface="Arial"/>
              </a:defRPr>
            </a:pPr>
            <a:r>
              <a:t>dominio di</a:t>
            </a:r>
            <a:br/>
            <a:r>
              <a:t>stabilizzazione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Arial"/>
              </a:defRPr>
            </a:pPr>
            <a:r>
              <a:t>S a SINISTRA (convenzione) | C = costante strutturale (da alfa) | Cer = inter | C⁻ = intra | CU = punto su C, nessuna formula | L emerge da ℓ compatibili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Il Rettangolo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Ogni piano disciplinare D ha geometria rettangolare con 4 vertici e altezza DH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645920"/>
            <a:ext cx="5029200" cy="3657600"/>
          </a:xfrm>
          <a:prstGeom prst="rect">
            <a:avLst/>
          </a:prstGeom>
          <a:solidFill>
            <a:srgbClr val="F5F8FF"/>
          </a:solidFill>
          <a:ln w="38100">
            <a:solidFill>
              <a:srgbClr val="28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48840" y="1508760"/>
            <a:ext cx="274320" cy="274320"/>
          </a:xfrm>
          <a:prstGeom prst="ellipse">
            <a:avLst/>
          </a:prstGeom>
          <a:solidFill>
            <a:srgbClr val="B42828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188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2828"/>
                </a:solidFill>
                <a:latin typeface="Consolas"/>
              </a:defRPr>
            </a:pPr>
            <a:r>
              <a:t>V_l</a:t>
            </a:r>
          </a:p>
        </p:txBody>
      </p:sp>
      <p:sp>
        <p:nvSpPr>
          <p:cNvPr id="7" name="Oval 6"/>
          <p:cNvSpPr/>
          <p:nvPr/>
        </p:nvSpPr>
        <p:spPr>
          <a:xfrm>
            <a:off x="7178040" y="1508760"/>
            <a:ext cx="274320" cy="274320"/>
          </a:xfrm>
          <a:prstGeom prst="ellipse">
            <a:avLst/>
          </a:prstGeom>
          <a:solidFill>
            <a:srgbClr val="1E783C"/>
          </a:solidFill>
          <a:ln w="1905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88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783C"/>
                </a:solidFill>
                <a:latin typeface="Consolas"/>
              </a:defRPr>
            </a:pPr>
            <a:r>
              <a:t>A_l</a:t>
            </a:r>
          </a:p>
        </p:txBody>
      </p:sp>
      <p:sp>
        <p:nvSpPr>
          <p:cNvPr id="9" name="Oval 8"/>
          <p:cNvSpPr/>
          <p:nvPr/>
        </p:nvSpPr>
        <p:spPr>
          <a:xfrm>
            <a:off x="2148840" y="5166359"/>
            <a:ext cx="274320" cy="274320"/>
          </a:xfrm>
          <a:prstGeom prst="ellipse">
            <a:avLst/>
          </a:prstGeom>
          <a:solidFill>
            <a:srgbClr val="B42828"/>
          </a:solidFill>
          <a:ln w="190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394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2828"/>
                </a:solidFill>
                <a:latin typeface="Consolas"/>
              </a:defRPr>
            </a:pPr>
            <a:r>
              <a:t>V_c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5166359"/>
            <a:ext cx="274320" cy="274320"/>
          </a:xfrm>
          <a:prstGeom prst="ellipse">
            <a:avLst/>
          </a:prstGeom>
          <a:solidFill>
            <a:srgbClr val="1E783C"/>
          </a:solidFill>
          <a:ln w="1905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5394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783C"/>
                </a:solidFill>
                <a:latin typeface="Consolas"/>
              </a:defRPr>
            </a:pPr>
            <a:r>
              <a:t>A_c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080"/>
                </a:solidFill>
                <a:latin typeface="Arial"/>
              </a:defRPr>
            </a:pPr>
            <a:r>
              <a:t>← estremi di L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080"/>
                </a:solidFill>
                <a:latin typeface="Arial"/>
              </a:defRPr>
            </a:pPr>
            <a:r>
              <a:t>← L proiettata su C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2828"/>
                </a:solidFill>
                <a:latin typeface="Arial"/>
              </a:defRPr>
            </a:pPr>
            <a:r>
              <a:t>S / portata</a:t>
            </a:r>
            <a:br/>
            <a:r>
              <a:t>(sinistra)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783C"/>
                </a:solidFill>
                <a:latin typeface="Arial"/>
              </a:defRPr>
            </a:pPr>
            <a:r>
              <a:t>attuabilità</a:t>
            </a:r>
            <a:br/>
            <a:r>
              <a:t>(destra)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1920240"/>
            <a:ext cx="0" cy="3108960"/>
          </a:xfrm>
          <a:prstGeom prst="line">
            <a:avLst/>
          </a:prstGeom>
          <a:ln w="31750">
            <a:solidFill>
              <a:srgbClr val="642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98079" y="1920240"/>
            <a:ext cx="0" cy="3108960"/>
          </a:xfrm>
          <a:prstGeom prst="line">
            <a:avLst/>
          </a:prstGeom>
          <a:ln w="31750">
            <a:solidFill>
              <a:srgbClr val="642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35240" y="3200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288C"/>
                </a:solidFill>
                <a:latin typeface="Arial"/>
              </a:defRPr>
            </a:pPr>
            <a:r>
              <a:t>DH</a:t>
            </a:r>
            <a:br/>
            <a:r>
              <a:t>(fasce di</a:t>
            </a:r>
            <a:br/>
            <a:r>
              <a:t>resistenza)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00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83CA0"/>
                </a:solidFill>
                <a:latin typeface="Arial"/>
              </a:defRPr>
            </a:pPr>
            <a:r>
              <a:t>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060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346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632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918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204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49039" y="3291840"/>
            <a:ext cx="137161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77639" y="3291840"/>
            <a:ext cx="137161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062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348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634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920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206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492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778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064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350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636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922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208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949440" y="3291840"/>
            <a:ext cx="1371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8620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8080"/>
                </a:solidFill>
                <a:latin typeface="Arial"/>
              </a:defRPr>
            </a:pPr>
            <a:r>
              <a:t>L (mediana)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Arial"/>
              </a:defRPr>
            </a:pPr>
            <a:r>
              <a:t>sotto L = deterministico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Arial"/>
              </a:defRPr>
            </a:pPr>
            <a:r>
              <a:t>sopra L = indeterministico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Arial"/>
              </a:defRPr>
            </a:pPr>
            <a:r>
              <a:t>V = operatore di valore (significatività) | A = operatore di azione (trasformazioni) | DH = fasce di resistenza (non metrico)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Arial"/>
              </a:defRPr>
            </a:pPr>
            <a:r>
              <a:t>L funge da mediana: sotto = deterministico, sopra = indeterministico | V, A, DH, Δ si applicano a ℓ, MAI a 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ℓ — Unità Minima di Stabilizzazione Valutabile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ℓ := ⟨D, V(D), A(D), DH_ℓ, Δ_ℓ⟩    |    Esclusivamente inter    |    Il carico è posizionale, non nella quintupla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1371600"/>
          </a:xfrm>
          <a:prstGeom prst="roundRect">
            <a:avLst/>
          </a:prstGeom>
          <a:solidFill>
            <a:srgbClr val="B4D2F0"/>
          </a:solidFill>
          <a:ln w="31750">
            <a:solidFill>
              <a:srgbClr val="28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3CA0"/>
                </a:solidFill>
                <a:latin typeface="Consolas"/>
              </a:defRPr>
            </a:pPr>
            <a: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Piano</a:t>
            </a:r>
            <a:br/>
            <a:r>
              <a:t>disciplinare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28800"/>
            <a:ext cx="1828800" cy="1371600"/>
          </a:xfrm>
          <a:prstGeom prst="roundRect">
            <a:avLst/>
          </a:prstGeom>
          <a:solidFill>
            <a:srgbClr val="F0C8C8"/>
          </a:solidFill>
          <a:ln w="317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2828"/>
                </a:solidFill>
                <a:latin typeface="Consolas"/>
              </a:defRPr>
            </a:pPr>
            <a:r>
              <a:t>V(D)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Operatore</a:t>
            </a:r>
            <a:br/>
            <a:r>
              <a:t>di valore</a:t>
            </a:r>
            <a:br/>
            <a:r>
              <a:t>(significatività)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28800"/>
            <a:ext cx="1828800" cy="1371600"/>
          </a:xfrm>
          <a:prstGeom prst="roundRect">
            <a:avLst/>
          </a:prstGeom>
          <a:solidFill>
            <a:srgbClr val="C8EBC8"/>
          </a:solidFill>
          <a:ln w="3175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783C"/>
                </a:solidFill>
                <a:latin typeface="Consolas"/>
              </a:defRPr>
            </a:pPr>
            <a:r>
              <a:t>A(D)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Operatore</a:t>
            </a:r>
            <a:br/>
            <a:r>
              <a:t>di azione</a:t>
            </a:r>
            <a:br/>
            <a:r>
              <a:t>(trasformazioni)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1828800"/>
            <a:ext cx="1828800" cy="1371600"/>
          </a:xfrm>
          <a:prstGeom prst="roundRect">
            <a:avLst/>
          </a:prstGeom>
          <a:solidFill>
            <a:srgbClr val="DCC8F0"/>
          </a:solidFill>
          <a:ln w="3175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288C"/>
                </a:solidFill>
                <a:latin typeface="Consolas"/>
              </a:defRPr>
            </a:pPr>
            <a:r>
              <a:t>DH_ℓ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Fascia di</a:t>
            </a:r>
            <a:br/>
            <a:r>
              <a:t>resistenza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828800"/>
            <a:ext cx="1828800" cy="1371600"/>
          </a:xfrm>
          <a:prstGeom prst="roundRect">
            <a:avLst/>
          </a:prstGeom>
          <a:solidFill>
            <a:srgbClr val="FFF5C8"/>
          </a:solidFill>
          <a:ln w="31750">
            <a:solidFill>
              <a:srgbClr val="C8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6414"/>
                </a:solidFill>
                <a:latin typeface="Consolas"/>
              </a:defRPr>
            </a:pPr>
            <a:r>
              <a:t>Δ_ℓ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Scarto</a:t>
            </a:r>
            <a:br/>
            <a:r>
              <a:t>(esito)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1031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23232"/>
                </a:solidFill>
                <a:latin typeface="Arial"/>
              </a:defRPr>
            </a:pPr>
            <a:r>
              <a:t>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210312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323232"/>
                </a:solidFill>
                <a:latin typeface="Arial"/>
              </a:defRPr>
            </a:pPr>
            <a:r>
              <a:t>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23232"/>
                </a:solidFill>
                <a:latin typeface="Arial"/>
              </a:defRPr>
            </a:pPr>
            <a: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19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23232"/>
                </a:solidFill>
                <a:latin typeface="Arial"/>
              </a:defRPr>
            </a:pPr>
            <a: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23232"/>
                </a:solidFill>
                <a:latin typeface="Arial"/>
              </a:defRPr>
            </a:pPr>
            <a: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23232"/>
                </a:solidFill>
                <a:latin typeface="Arial"/>
              </a:defRPr>
            </a:pPr>
            <a: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2828"/>
                </a:solidFill>
                <a:latin typeface="Arial"/>
              </a:defRPr>
            </a:pPr>
            <a:r>
              <a:t>Cosa NON entra nella quintupla: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  C — è condizione a priori, costante strutturale. Non è proprietà di 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  Carico — è proprietà posizionale (densità relazionale in L). Visibile solo nel DB compilato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  Tempo — non esiste in ETG. Il carico sostituisce la durata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288C"/>
                </a:solidFill>
                <a:latin typeface="Arial"/>
              </a:defRPr>
            </a:pPr>
            <a:r>
              <a:t>Vincoli duri: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06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288C"/>
                </a:solidFill>
                <a:latin typeface="Arial"/>
              </a:defRPr>
            </a:pPr>
            <a:r>
              <a:t>●  ℓ è esclusivamente inter — VIETATO in intra (in intra: solo μ, μ')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126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288C"/>
                </a:solidFill>
                <a:latin typeface="Arial"/>
              </a:defRPr>
            </a:pPr>
            <a:r>
              <a:t>●  V, A, DH, Δ si applicano a ℓ, MAI a L — L cambia per emergenza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288C"/>
                </a:solidFill>
                <a:latin typeface="Arial"/>
              </a:defRPr>
            </a:pPr>
            <a:r>
              <a:t>●  Δ agisce su ℓ, induce variazioni in L — Δ non agisce su L come oggetto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I Tre Regimi: Inter, Intra,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Il regime è determinato dalla collocabilità, non dall'intimità del contenuto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0" y="1371600"/>
            <a:ext cx="0" cy="4572000"/>
          </a:xfrm>
          <a:prstGeom prst="line">
            <a:avLst/>
          </a:prstGeom>
          <a:ln w="50800">
            <a:solidFill>
              <a:srgbClr val="283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0" y="1005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83CA0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114800"/>
          </a:xfrm>
          <a:prstGeom prst="roundRect">
            <a:avLst/>
          </a:prstGeom>
          <a:solidFill>
            <a:srgbClr val="C8EBC8"/>
          </a:solidFill>
          <a:ln w="2540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783C"/>
                </a:solidFill>
                <a:latin typeface="Arial"/>
              </a:defRPr>
            </a:pPr>
            <a:r>
              <a:t>INTER (Cer)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ℓ := ⟨D, V(D), A(D), DH_ℓ, Δ_ℓ⟩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Linguaggio espresso, collocabile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Piani D con V, A, DH, 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DB compilabile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DH applicato a 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⦿ (fissazione) registrata qui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94944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Es: diario scritto, teorema pubblicato,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212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     legge promulgata, ricetta condivisa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645920"/>
            <a:ext cx="4846320" cy="4114800"/>
          </a:xfrm>
          <a:prstGeom prst="roundRect">
            <a:avLst/>
          </a:prstGeom>
          <a:solidFill>
            <a:srgbClr val="DCC8F0"/>
          </a:solidFill>
          <a:ln w="2540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288C"/>
                </a:solidFill>
                <a:latin typeface="Arial"/>
              </a:defRPr>
            </a:pPr>
            <a:r>
              <a:t>INTRA (C⁻)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286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μ, μ' (rielaborazioni opache)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NON collocabile, NON linguistico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Nessun D, nessun V, nessun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NON compilabile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DH applicato a U (non a ℓ)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ℓ VIETATO qui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Es: intuizione pre-verbale, disagio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     senza nome, elaborazione inconscia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486400"/>
            <a:ext cx="7772400" cy="109728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C8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6414"/>
                </a:solidFill>
                <a:latin typeface="Arial"/>
              </a:defRPr>
            </a:pPr>
            <a:r>
              <a:t>META (D_meta)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897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6414"/>
                </a:solidFill>
                <a:latin typeface="Arial"/>
              </a:defRPr>
            </a:pPr>
            <a:r>
              <a:t>Immanente (prima e dopo) | Monodimensionale | No DH, no L, no Δ | Struttura logica</a:t>
            </a:r>
            <a:br/>
            <a:r>
              <a:t>"Meta non esiste, ma c'è" | L'impressione di DB in meta = inganno di DB distribuito di U₀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60720" y="2743200"/>
            <a:ext cx="3657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760720" y="3200400"/>
            <a:ext cx="365760" cy="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8080"/>
                </a:solidFill>
                <a:latin typeface="Arial"/>
              </a:defRPr>
            </a:pPr>
            <a:r>
              <a:t>μ→μ'→ℓ'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Pathway Sensoriale: inter → sensi → U₀ → Um → inter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Um NON riceve direttamente da inter. Tutto passa per U₀ (riduzione).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828800" cy="1371600"/>
          </a:xfrm>
          <a:prstGeom prst="roundRect">
            <a:avLst/>
          </a:prstGeom>
          <a:solidFill>
            <a:srgbClr val="C8EBC8"/>
          </a:solidFill>
          <a:ln w="3175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783C"/>
                </a:solidFill>
                <a:latin typeface="Arial"/>
              </a:defRPr>
            </a:pPr>
            <a:r>
              <a:t>Inter</a:t>
            </a:r>
            <a:br/>
            <a:r>
              <a:t>(Cer)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1828800" cy="1371600"/>
          </a:xfrm>
          <a:prstGeom prst="roundRect">
            <a:avLst/>
          </a:prstGeom>
          <a:solidFill>
            <a:srgbClr val="C8EBEB"/>
          </a:solidFill>
          <a:ln w="317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080"/>
                </a:solidFill>
                <a:latin typeface="Arial"/>
              </a:defRPr>
            </a:pPr>
            <a:r>
              <a:t>Sensi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286000"/>
            <a:ext cx="1828800" cy="1371600"/>
          </a:xfrm>
          <a:prstGeom prst="roundRect">
            <a:avLst/>
          </a:prstGeom>
          <a:solidFill>
            <a:srgbClr val="DCC8F0"/>
          </a:solidFill>
          <a:ln w="3175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288C"/>
                </a:solidFill>
                <a:latin typeface="Arial"/>
              </a:defRPr>
            </a:pPr>
            <a:r>
              <a:t>U₀</a:t>
            </a:r>
            <a:br/>
            <a:r>
              <a:t>(riduzione)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1828800" cy="1371600"/>
          </a:xfrm>
          <a:prstGeom prst="roundRect">
            <a:avLst/>
          </a:prstGeom>
          <a:solidFill>
            <a:srgbClr val="F0C8C8"/>
          </a:solidFill>
          <a:ln w="3175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2828"/>
                </a:solidFill>
                <a:latin typeface="Arial"/>
              </a:defRPr>
            </a:pPr>
            <a:r>
              <a:t>Um</a:t>
            </a:r>
            <a:br/>
            <a:r>
              <a:t>(lessico)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286000"/>
            <a:ext cx="1828800" cy="1371600"/>
          </a:xfrm>
          <a:prstGeom prst="roundRect">
            <a:avLst/>
          </a:prstGeom>
          <a:solidFill>
            <a:srgbClr val="C8EBC8"/>
          </a:solidFill>
          <a:ln w="3175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783C"/>
                </a:solidFill>
                <a:latin typeface="Arial"/>
              </a:defRPr>
            </a:pPr>
            <a:r>
              <a:t>Inter</a:t>
            </a:r>
            <a:br/>
            <a:r>
              <a:t>(Cer)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971800"/>
            <a:ext cx="365760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4920" y="2971800"/>
            <a:ext cx="365760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60920" y="2971800"/>
            <a:ext cx="365759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46920" y="2971800"/>
            <a:ext cx="365760" cy="0"/>
          </a:xfrm>
          <a:prstGeom prst="line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" y="4114800"/>
            <a:ext cx="914400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2828"/>
                </a:solidFill>
                <a:latin typeface="Arial"/>
              </a:defRPr>
            </a:pPr>
            <a:r>
              <a:t>VIETATO: Inter → Um direttamente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23232"/>
                </a:solidFill>
                <a:latin typeface="Arial"/>
              </a:defRPr>
            </a:pPr>
            <a:r>
              <a:t>Um (lessico, vocabolario disciplinare) non riceve input direttamente dall'inter.</a:t>
            </a:r>
            <a:br/>
            <a:r>
              <a:t>Tutto il materiale sensoriale passa prima per U₀ (riduzione percettiva).</a:t>
            </a:r>
            <a:br/>
            <a:r>
              <a:t>U₀ filtra, riduce, e solo dopo il risultato arriva a Um che lo traduce in linguaggio disciplinare.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Esiti di Δ (Scarto)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Δ agisce su ℓ, non su L. L cambia per emergenza come conseguenza.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828800"/>
            <a:ext cx="1371600" cy="914400"/>
          </a:xfrm>
          <a:prstGeom prst="ellipse">
            <a:avLst/>
          </a:prstGeom>
          <a:solidFill>
            <a:srgbClr val="FFF5C8"/>
          </a:solidFill>
          <a:ln w="38100">
            <a:solidFill>
              <a:srgbClr val="C8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6414"/>
                </a:solidFill>
                <a:latin typeface="Arial"/>
              </a:defRPr>
            </a:pPr>
            <a:r>
              <a:t>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2560320" cy="1645920"/>
          </a:xfrm>
          <a:prstGeom prst="roundRect">
            <a:avLst/>
          </a:prstGeom>
          <a:solidFill>
            <a:srgbClr val="C8EBC8"/>
          </a:solidFill>
          <a:ln w="25400">
            <a:solidFill>
              <a:srgbClr val="1E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783C"/>
                </a:solidFill>
                <a:latin typeface="Arial"/>
              </a:defRPr>
            </a:pPr>
            <a:r>
              <a:t>⦿ Fissazione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L'ℓ regge. Entra in L.</a:t>
            </a:r>
            <a:br/>
            <a:r>
              <a:t>Registrata su C (inter).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11680" y="2743200"/>
            <a:ext cx="3886200" cy="868680"/>
          </a:xfrm>
          <a:prstGeom prst="line">
            <a:avLst/>
          </a:prstGeom>
          <a:ln w="19050">
            <a:solidFill>
              <a:srgbClr val="1E7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3657600"/>
            <a:ext cx="2560320" cy="1645920"/>
          </a:xfrm>
          <a:prstGeom prst="roundRect">
            <a:avLst/>
          </a:prstGeom>
          <a:solidFill>
            <a:srgbClr val="FFF5C8"/>
          </a:solidFill>
          <a:ln w="25400">
            <a:solidFill>
              <a:srgbClr val="C8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74903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6414"/>
                </a:solidFill>
                <a:latin typeface="Arial"/>
              </a:defRPr>
            </a:pPr>
            <a:r>
              <a:t>NI_t Scarto</a:t>
            </a:r>
            <a:br/>
            <a:r>
              <a:t>temporaneo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480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L'ℓ non regge ora.</a:t>
            </a:r>
            <a:br/>
            <a:r>
              <a:t>Può ritentare.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754879" y="2743200"/>
            <a:ext cx="1143001" cy="868680"/>
          </a:xfrm>
          <a:prstGeom prst="line">
            <a:avLst/>
          </a:prstGeom>
          <a:ln w="19050">
            <a:solidFill>
              <a:srgbClr val="C86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3657600"/>
            <a:ext cx="2560320" cy="1645920"/>
          </a:xfrm>
          <a:prstGeom prst="roundRect">
            <a:avLst/>
          </a:prstGeom>
          <a:solidFill>
            <a:srgbClr val="F0C8C8"/>
          </a:solidFill>
          <a:ln w="2540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74903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2828"/>
                </a:solidFill>
                <a:latin typeface="Arial"/>
              </a:defRPr>
            </a:pPr>
            <a:r>
              <a:t>NI_tP Scarto</a:t>
            </a:r>
            <a:br/>
            <a:r>
              <a:t>permanente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4480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L'ℓ non reggerà mai</a:t>
            </a:r>
            <a:br/>
            <a:r>
              <a:t>in questo 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80" y="2743200"/>
            <a:ext cx="1600199" cy="868680"/>
          </a:xfrm>
          <a:prstGeom prst="line">
            <a:avLst/>
          </a:prstGeom>
          <a:ln w="19050">
            <a:solidFill>
              <a:srgbClr val="B4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3657600"/>
            <a:ext cx="2560320" cy="1645920"/>
          </a:xfrm>
          <a:prstGeom prst="roundRect">
            <a:avLst/>
          </a:prstGeom>
          <a:solidFill>
            <a:srgbClr val="DCC8F0"/>
          </a:solidFill>
          <a:ln w="25400">
            <a:solidFill>
              <a:srgbClr val="64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749039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288C"/>
                </a:solidFill>
                <a:latin typeface="Arial"/>
              </a:defRPr>
            </a:pPr>
            <a:r>
              <a:t>ε Attraversamento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4805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23232"/>
                </a:solidFill>
                <a:latin typeface="Arial"/>
              </a:defRPr>
            </a:pPr>
            <a:r>
              <a:t>L'ℓ transita in un</a:t>
            </a:r>
            <a:br/>
            <a:r>
              <a:t>altro D. Potenziale 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7880" y="2743200"/>
            <a:ext cx="4343400" cy="868680"/>
          </a:xfrm>
          <a:prstGeom prst="line">
            <a:avLst/>
          </a:prstGeom>
          <a:ln w="19050">
            <a:solidFill>
              <a:srgbClr val="642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78"/>
                </a:solidFill>
                <a:latin typeface="Arial"/>
              </a:defRPr>
            </a:pPr>
            <a:r>
              <a:t>K (conoscenza inter-disciplinare) accade quando ε porta un'ℓ da D₁ a D₂ e lì regge (⦿)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080"/>
                </a:solidFill>
                <a:latin typeface="Arial"/>
              </a:defRPr>
            </a:pPr>
            <a:r>
              <a:t>Il vero K accade in intra: μ → μ' → ℓ' (rientro in inter)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23232"/>
                </a:solidFill>
                <a:latin typeface="Arial"/>
              </a:defRPr>
            </a:pPr>
            <a:r>
              <a:t>Il DB Topologico — Chi Può Stare Dove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Arial"/>
              </a:defRPr>
            </a:pPr>
            <a:r>
              <a:t>ETG mostra, non confronta. Il DB rende visibile la struttura.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solidFill>
            <a:srgbClr val="323232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Simbolo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45920"/>
            <a:ext cx="2286000" cy="457200"/>
          </a:xfrm>
          <a:prstGeom prst="rect">
            <a:avLst/>
          </a:prstGeom>
          <a:solidFill>
            <a:srgbClr val="323232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D_inter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2286000" cy="457200"/>
          </a:xfrm>
          <a:prstGeom prst="rect">
            <a:avLst/>
          </a:prstGeom>
          <a:solidFill>
            <a:srgbClr val="323232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D_intra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2286000" cy="457200"/>
          </a:xfrm>
          <a:prstGeom prst="rect">
            <a:avLst/>
          </a:prstGeom>
          <a:solidFill>
            <a:srgbClr val="323232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D_meta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0312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12140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10312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12140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0312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12140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2140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5146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5328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μ / μ'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5146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5328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5146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5328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5146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5328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292607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294436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V,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92607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294436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92607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94436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92607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94436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3375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335584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DH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33375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335584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 (su ℓ)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3375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335584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 (su U)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3375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35584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374903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376732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374903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376732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 (su ℓ)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74903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376732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749039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376732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0" y="41605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417880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⦿ (fissazione)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41605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417880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 (su C)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41605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417880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 (effetto sì)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1605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417880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0" y="457200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45902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DB compilabile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457200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45902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57200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45902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4572000"/>
            <a:ext cx="22860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590288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4983479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71600" y="500176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3232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4983479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0" y="500176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783C"/>
                </a:solidFill>
                <a:latin typeface="Arial"/>
              </a:defRPr>
            </a:pPr>
            <a:r>
              <a:t>✔ (emerge)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983479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0" y="500176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983479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5001767"/>
            <a:ext cx="2286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2828"/>
                </a:solidFill>
                <a:latin typeface="Arial"/>
              </a:defRPr>
            </a:pPr>
            <a:r>
              <a:t>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3CA0"/>
                </a:solidFill>
                <a:latin typeface="Arial"/>
              </a:defRPr>
            </a:pPr>
            <a:r>
              <a:t>Tre tipi di DB (proposti, non ancora formalizzati):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8872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3CA0"/>
                </a:solidFill>
                <a:latin typeface="Arial"/>
              </a:defRPr>
            </a:pPr>
            <a:r>
              <a:t>DB di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17520" y="5715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Tutto ciò che transita su C nel dominio D — ℓ, fallimenti, NI_t, eventi parziali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88720" y="6035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83C"/>
                </a:solidFill>
                <a:latin typeface="Arial"/>
              </a:defRPr>
            </a:pPr>
            <a:r>
              <a:t>DB di 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17520" y="6035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Istituzionale — solo ℓ stabilizzate. Per uso esterno, middleware, trasparenza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88720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2828"/>
                </a:solidFill>
                <a:latin typeface="Arial"/>
              </a:defRPr>
            </a:pPr>
            <a:r>
              <a:t>L stessa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1752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Arial"/>
              </a:defRPr>
            </a:pPr>
            <a:r>
              <a:t>NON è un DB — dominio storico, contiene anche l'irrecuperabile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